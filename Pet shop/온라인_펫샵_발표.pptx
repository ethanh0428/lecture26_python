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566160"/>
            <a:ext cx="2011680" cy="2011680"/>
          </a:xfrm>
          <a:prstGeom prst="ellipse">
            <a:avLst/>
          </a:prstGeom>
          <a:solidFill>
            <a:srgbClr val="0C5C48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846320"/>
            <a:ext cx="1005840" cy="10058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기말 프로젝트  ·  소프트웨어 공학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온라인 펫 샵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099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Ethan's Pet Shop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4069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기반 반려용품 판매 시스템 — 유스케이스 · 클래스 다이어그램 · 요구사항 명세(SRS) · 구현 결과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5074920"/>
            <a:ext cx="2926080" cy="0"/>
          </a:xfrm>
          <a:prstGeom prst="line">
            <a:avLst/>
          </a:prstGeom>
          <a:noFill/>
          <a:ln w="25400">
            <a:solidFill>
              <a:srgbClr val="D85A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257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인공지능소프트웨어학과   |   홍우식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발표 목차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C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554480" y="1600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2029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무엇을, 어떤 구조로 만들었나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55080" y="15544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C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269480" y="1600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유스케이스 다이어그램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69480" y="20299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액터별 기능 흐름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C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554480" y="3017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요구사항 명세 (SRS)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447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· 비기능 요구사항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55080" y="2971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C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7269480" y="30175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다이어그램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69480" y="34472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모델과 관계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C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554480" y="4434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구성도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864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권한별 화면 구조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3891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C2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269480" y="44348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결과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69480" y="48646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동작 화면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반려용품을 판매하는 콘솔 기반 온라인 쇼핑몰입니다. 비회원·회원·관리자 권한을 나누고, 상품 탐색부터 장바구니·주문·배송·리뷰까지 실제 쇼핑 흐름을 구현했습니다.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4계층 아키텍처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329184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입력·출력 (메뉴)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0" y="3840480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968496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4EFE6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68496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77440" y="3968496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 로직·검증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0" y="4517136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E1F5EE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645152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77440" y="4645152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접근·저장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108960" y="5193792"/>
            <a:ext cx="3657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5321808"/>
            <a:ext cx="5486400" cy="566928"/>
          </a:xfrm>
          <a:prstGeom prst="roundRect">
            <a:avLst>
              <a:gd name="adj" fmla="val 12903"/>
            </a:avLst>
          </a:prstGeom>
          <a:solidFill>
            <a:srgbClr val="F4EFE6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321808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377440" y="5321808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엔티티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1554480"/>
            <a:ext cx="5120640" cy="4526280"/>
          </a:xfrm>
          <a:prstGeom prst="roundRect">
            <a:avLst>
              <a:gd name="adj" fmla="val 2020"/>
            </a:avLst>
          </a:prstGeom>
          <a:solidFill>
            <a:srgbClr val="094A3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828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정보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0" y="2331720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6060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858000" y="3081528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유형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3558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비회원 · 회원 · 관리자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858000" y="3831336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도메인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410565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· 상품 · 장바구니 · 주문 · 배송 · 리뷰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58000" y="4581144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등급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485546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등급제 운영 (예: SILVER)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858000" y="5330952"/>
            <a:ext cx="4480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기능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560527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현황 · 매출 집계 · 리뷰 관리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유스케이스 다이어그램</a:t>
            </a:r>
            <a:endParaRPr lang="en-US" sz="3000" dirty="0"/>
          </a:p>
        </p:txBody>
      </p:sp>
      <p:pic>
        <p:nvPicPr>
          <p:cNvPr id="4" name="Image 0" descr="img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4546169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43449" y="1783080"/>
            <a:ext cx="587799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액터, 하나의 시스템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43449" y="2340864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4"/>
          <p:cNvSpPr/>
          <p:nvPr/>
        </p:nvSpPr>
        <p:spPr>
          <a:xfrm>
            <a:off x="5917769" y="2240280"/>
            <a:ext cx="5603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비회원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917769" y="2578608"/>
            <a:ext cx="56036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조회·검색·상세 보기, 회원가입까지 가능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643449" y="3483864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7"/>
          <p:cNvSpPr/>
          <p:nvPr/>
        </p:nvSpPr>
        <p:spPr>
          <a:xfrm>
            <a:off x="5917769" y="3383280"/>
            <a:ext cx="5603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917769" y="3721608"/>
            <a:ext cx="56036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장바구니·주문·배송 조회·리뷰 등 핵심 기능 수행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43449" y="4626864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0"/>
          <p:cNvSpPr/>
          <p:nvPr/>
        </p:nvSpPr>
        <p:spPr>
          <a:xfrm>
            <a:off x="5917769" y="4526280"/>
            <a:ext cx="56036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17769" y="4864608"/>
            <a:ext cx="560367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상품·회원·주문 관리와 재고·매출 조회 담당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643449" y="5760720"/>
            <a:ext cx="587799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include : 로그인 → 본인 인증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extend : 상세 보기 → 상품 조회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요구사항 명세서 (SRS)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 요구사항을 6개 도메인으로 분류하고, 보안·성능 등 비기능 요구사항을 별도로 정의했습니다.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EFE6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94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(Member)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FR-MEM-01~06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8712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가입·인증·로그인·정보수정·탈퇴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5968" y="210312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EFE6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22494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(Product)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44568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FR-PRD-01~04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4568" y="28712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조회·검색·상세·리뷰 조회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83296" y="210312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EFE6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22494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(Cart)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11896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FR-CRT-01~04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11896" y="287121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담기·조회·수정·삭제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EFE6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주문·결제 (Order)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FR-ORD-01~04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28853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주문·결제·조회·취소/반품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15968" y="352044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EFE6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44568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 (Delivery)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44568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FR-DLV-01~03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44568" y="428853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정보수신·상태갱신·배송조회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83296" y="3520440"/>
            <a:ext cx="3520440" cy="1207008"/>
          </a:xfrm>
          <a:prstGeom prst="roundRect">
            <a:avLst>
              <a:gd name="adj" fmla="val 6061"/>
            </a:avLst>
          </a:prstGeom>
          <a:solidFill>
            <a:srgbClr val="F4EFE6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11896" y="366674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리뷰·관리자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11896" y="40233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FR-REV / FR-ADM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11896" y="428853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작성·관리자 7개 기능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1F5EE"/>
          </a:solidFill>
          <a:ln w="9525">
            <a:solidFill>
              <a:srgbClr val="9FE1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193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비기능 요구사항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5522976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보안(비밀번호 암호화·HTTPS)  ·  결제 보안(PG 위임)  ·  성능(3초 이내·동시성 제어)  ·  가용성(가동률 99%·정기 백업)  ·  사용성/호환성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기능 요구사항 상세 예시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  <a:gridCol w="72511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요구사항명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상세 설명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FR-MEM-01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회원가입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약관 동의 후 아이디·비밀번호·연락처·배송지 입력으로 가입, 본인 인증 포함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FR-PRD-01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 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회원·비회원 모두 카테고리(사료·간식·용품 등)별 상품 목록 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FR-CRT-01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장바구니 담기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상품과 수량 선택해 담기, 동일 상품은 수량 합산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FR-ORD-01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주문하기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장바구니/상세에서 배송지·요청사항 입력 후 주문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FR-DLV-03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배송 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주문별 배송 상태와 운송장 번호 조회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FR-ADM-03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재고 관리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C2C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상품별 재고 조회·입출고 처리, 품절·부족 시 알림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F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전체 명세서는 회원·상품·장바구니·주문·배송·리뷰·관리자 7개 영역 33개 항목으로 구성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CLASS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클래스 다이어그램</a:t>
            </a:r>
            <a:endParaRPr lang="en-US" sz="3000" dirty="0"/>
          </a:p>
        </p:txBody>
      </p:sp>
      <p:pic>
        <p:nvPicPr>
          <p:cNvPr id="4" name="Image 0" descr="img/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3629025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17745" y="1691640"/>
            <a:ext cx="6795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모델 (Model 계층)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17745" y="2240280"/>
            <a:ext cx="679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817745" y="2514600"/>
            <a:ext cx="67951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 정보·등급, 로그인 처리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817745" y="2898648"/>
            <a:ext cx="679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/ Category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817745" y="3172968"/>
            <a:ext cx="67951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상품과 카테고리, 재고 차감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17745" y="3557016"/>
            <a:ext cx="679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· CartItem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817745" y="3831336"/>
            <a:ext cx="67951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장바구니와 담긴 상품 라인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817745" y="4215384"/>
            <a:ext cx="679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OrderItem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17745" y="4489704"/>
            <a:ext cx="67951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주문과 주문 시점 가격 보관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817745" y="4873752"/>
            <a:ext cx="679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817745" y="5148072"/>
            <a:ext cx="67951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배송지·상태·운송장 번호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817745" y="5532120"/>
            <a:ext cx="67951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817745" y="5806440"/>
            <a:ext cx="67951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평점·내용, 회원↔상품 연결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SITE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메뉴 구성도</a:t>
            </a:r>
            <a:endParaRPr lang="en-US" sz="3000" dirty="0"/>
          </a:p>
        </p:txBody>
      </p:sp>
      <p:pic>
        <p:nvPicPr>
          <p:cNvPr id="4" name="Image 0" descr="img/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47498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38520" y="1828800"/>
            <a:ext cx="567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권한별 화면 구조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938520" y="2468880"/>
            <a:ext cx="5674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67120" y="2834640"/>
            <a:ext cx="164592" cy="164592"/>
          </a:xfrm>
          <a:prstGeom prst="ellipse">
            <a:avLst/>
          </a:prstGeom>
          <a:solidFill>
            <a:srgbClr val="C9C2B4"/>
          </a:solidFill>
          <a:ln/>
        </p:spPr>
      </p:sp>
      <p:sp>
        <p:nvSpPr>
          <p:cNvPr id="8" name="Text 5"/>
          <p:cNvSpPr/>
          <p:nvPr/>
        </p:nvSpPr>
        <p:spPr>
          <a:xfrm>
            <a:off x="6487160" y="2615184"/>
            <a:ext cx="5034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비회원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87160" y="2962656"/>
            <a:ext cx="4942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탐색과 회원가입만 접근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38520" y="3611880"/>
            <a:ext cx="5674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67120" y="3977640"/>
            <a:ext cx="164592" cy="164592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2" name="Text 9"/>
          <p:cNvSpPr/>
          <p:nvPr/>
        </p:nvSpPr>
        <p:spPr>
          <a:xfrm>
            <a:off x="6487160" y="3758184"/>
            <a:ext cx="5034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87160" y="4105656"/>
            <a:ext cx="4942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계정·상품·장바구니·주문·마이페이지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38520" y="4754880"/>
            <a:ext cx="5674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0D8C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67120" y="5120640"/>
            <a:ext cx="164592" cy="164592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6" name="Text 13"/>
          <p:cNvSpPr/>
          <p:nvPr/>
        </p:nvSpPr>
        <p:spPr>
          <a:xfrm>
            <a:off x="6487160" y="4901184"/>
            <a:ext cx="5034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487160" y="5248656"/>
            <a:ext cx="4942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관리(상품·주문·회원)와 현황(재고·매출)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결과 — 사용자 이용 흐름</a:t>
            </a:r>
            <a:endParaRPr lang="en-US" sz="3000" dirty="0"/>
          </a:p>
        </p:txBody>
      </p:sp>
      <p:pic>
        <p:nvPicPr>
          <p:cNvPr id="4" name="Image 0" descr="img/code_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639334" cy="4983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19494" y="17830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6" name="Text 3"/>
          <p:cNvSpPr/>
          <p:nvPr/>
        </p:nvSpPr>
        <p:spPr>
          <a:xfrm>
            <a:off x="3919494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59574" y="1764792"/>
            <a:ext cx="705330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59574" y="2093976"/>
            <a:ext cx="705330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아이디·비밀번호 입력 → 등급(SILVER) 확인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48094" y="2258568"/>
            <a:ext cx="0" cy="658368"/>
          </a:xfrm>
          <a:prstGeom prst="line">
            <a:avLst/>
          </a:prstGeom>
          <a:noFill/>
          <a:ln w="19050">
            <a:solidFill>
              <a:srgbClr val="9FE1C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19494" y="29260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1" name="Text 8"/>
          <p:cNvSpPr/>
          <p:nvPr/>
        </p:nvSpPr>
        <p:spPr>
          <a:xfrm>
            <a:off x="3919494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559574" y="2907792"/>
            <a:ext cx="705330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목록 조회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559574" y="3236976"/>
            <a:ext cx="705330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가격·재고·설명과 함께 상품 리스트 출력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48094" y="3401568"/>
            <a:ext cx="0" cy="658368"/>
          </a:xfrm>
          <a:prstGeom prst="line">
            <a:avLst/>
          </a:prstGeom>
          <a:noFill/>
          <a:ln w="19050">
            <a:solidFill>
              <a:srgbClr val="9FE1C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19494" y="40690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3"/>
          <p:cNvSpPr/>
          <p:nvPr/>
        </p:nvSpPr>
        <p:spPr>
          <a:xfrm>
            <a:off x="3919494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559574" y="4050792"/>
            <a:ext cx="705330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담기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59574" y="4379976"/>
            <a:ext cx="705330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번호·수량 선택해 담기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48094" y="4544568"/>
            <a:ext cx="0" cy="658368"/>
          </a:xfrm>
          <a:prstGeom prst="line">
            <a:avLst/>
          </a:prstGeom>
          <a:noFill/>
          <a:ln w="19050">
            <a:solidFill>
              <a:srgbClr val="9FE1C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19494" y="5212080"/>
            <a:ext cx="457200" cy="4572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1" name="Text 18"/>
          <p:cNvSpPr/>
          <p:nvPr/>
        </p:nvSpPr>
        <p:spPr>
          <a:xfrm>
            <a:off x="3919494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59574" y="5193792"/>
            <a:ext cx="705330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 진행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59574" y="5522976"/>
            <a:ext cx="705330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확인 후 주문·결제 완료, 주문번호 발급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5" name="Text 22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결과 — 관리자 · 배송 조회</a:t>
            </a:r>
            <a:endParaRPr lang="en-US" sz="3000" dirty="0"/>
          </a:p>
        </p:txBody>
      </p:sp>
      <p:pic>
        <p:nvPicPr>
          <p:cNvPr id="4" name="Image 0" descr="img/code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185347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65507" y="1783080"/>
            <a:ext cx="61473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전용 대시보드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65507" y="2350008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7" name="Text 4"/>
          <p:cNvSpPr/>
          <p:nvPr/>
        </p:nvSpPr>
        <p:spPr>
          <a:xfrm>
            <a:off x="5739827" y="2249424"/>
            <a:ext cx="587305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재고 현황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739827" y="2578608"/>
            <a:ext cx="58730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상품별 잔여 수량 실시간 확인 (사료 10 · 덴탈껌 20 …)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65507" y="3310128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7"/>
          <p:cNvSpPr/>
          <p:nvPr/>
        </p:nvSpPr>
        <p:spPr>
          <a:xfrm>
            <a:off x="5739827" y="3209544"/>
            <a:ext cx="587305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집계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739827" y="3538728"/>
            <a:ext cx="58730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매출액과 총 주문 건수 산출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65507" y="4270248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0"/>
          <p:cNvSpPr/>
          <p:nvPr/>
        </p:nvSpPr>
        <p:spPr>
          <a:xfrm>
            <a:off x="5739827" y="4169664"/>
            <a:ext cx="587305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피드백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739827" y="4498848"/>
            <a:ext cx="58730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등록된 고객 리뷰 모아 보기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65507" y="5230368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6" name="Text 13"/>
          <p:cNvSpPr/>
          <p:nvPr/>
        </p:nvSpPr>
        <p:spPr>
          <a:xfrm>
            <a:off x="5739827" y="5129784"/>
            <a:ext cx="587305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9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주문·배송 조회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739827" y="5458968"/>
            <a:ext cx="587305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주문번호·결제금액·배송상태·운송장 번호 출력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9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구현 결과 — 리뷰 작성 · 종료</a:t>
            </a:r>
            <a:endParaRPr lang="en-US" sz="3000" dirty="0"/>
          </a:p>
        </p:txBody>
      </p:sp>
      <p:pic>
        <p:nvPicPr>
          <p:cNvPr id="4" name="Image 0" descr="img/code_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398566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65826" y="1828800"/>
            <a:ext cx="634705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구매 상품 리뷰 작성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265826" y="2286000"/>
            <a:ext cx="634705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구매 상품 목록 제시
</a:t>
            </a:r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상품 번호 선택 → 평점(1~5점) 입력 → 리뷰 내용 작성
</a:t>
            </a:r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“리뷰가 등록되었습니다!” 확인 메시지 출력
</a:t>
            </a:r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0번 입력 시 종료 인사와 함께 프로그램 정상 종료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6455664"/>
            <a:ext cx="109728" cy="109728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327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Ethan's Pet Shop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327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06240"/>
            <a:ext cx="4206240" cy="420624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3291840" cy="3291840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E1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요구사항부터 구현까지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흐름으로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유스케이스로 기능을 도출하고, SRS로 명세화한 뒤, 클래스 다이어그램으로 구조를 설계하여 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09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4계층 콘솔 애플리케이션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DEE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구현했습니다.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2026-06-25T07:46:06Z</dcterms:created>
  <dcterms:modified xsi:type="dcterms:W3CDTF">2026-06-25T07:46:06Z</dcterms:modified>
</cp:coreProperties>
</file>